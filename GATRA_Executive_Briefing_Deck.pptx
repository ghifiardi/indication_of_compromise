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GATRA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FF41"/>
                </a:solidFill>
              </a:defRPr>
            </a:pPr>
            <a:r>
              <a:t>AI-DRIVEN SECURITY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Revolutionizing SOC Operations with Autonomous Threat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FF4444"/>
                </a:solidFill>
              </a:defRPr>
            </a:pPr>
            <a:r>
              <a:t>The Challenge</a:t>
            </a:r>
          </a:p>
          <a:p>
            <a:pPr lvl="1">
              <a:defRPr sz="1600"/>
            </a:pPr>
            <a:r>
              <a:t>• Traditional SOCs take 200+ days to detect breaches</a:t>
            </a:r>
          </a:p>
          <a:p>
            <a:pPr lvl="1">
              <a:defRPr sz="1600"/>
            </a:pPr>
            <a:r>
              <a:t>• AI-driven attacks operate at machine speed (100+ requests/minute)</a:t>
            </a:r>
          </a:p>
          <a:p>
            <a:pPr lvl="1">
              <a:defRPr sz="1600"/>
            </a:pPr>
            <a:r>
              <a:t>• GTG-1002 campaign: 100M+ PII records targeted in &lt;48 hours</a:t>
            </a:r>
          </a:p>
          <a:p/>
          <a:p>
            <a:pPr>
              <a:defRPr sz="2000" b="1">
                <a:solidFill>
                  <a:srgbClr val="00FF41"/>
                </a:solidFill>
              </a:defRPr>
            </a:pPr>
            <a:r>
              <a:t>The GATRA Solution</a:t>
            </a:r>
          </a:p>
          <a:p>
            <a:pPr lvl="1">
              <a:defRPr sz="1600"/>
            </a:pPr>
            <a:r>
              <a:t>• Detection in 15-30 minutes (1,333x faster)</a:t>
            </a:r>
          </a:p>
          <a:p>
            <a:pPr lvl="1">
              <a:defRPr sz="1600"/>
            </a:pPr>
            <a:r>
              <a:t>• 95% detection accuracy vs. &lt;10% traditional</a:t>
            </a:r>
          </a:p>
          <a:p>
            <a:pPr lvl="1">
              <a:defRPr sz="1600" b="1"/>
            </a:pPr>
            <a:r>
              <a:t>• Prevents $26.4M+ in breach costs per incident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The GTG-1002 Campaign: AI-Orchestrated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Six-Phase Attack Lifecycle</a:t>
            </a:r>
          </a:p>
          <a:p>
            <a:pPr>
              <a:defRPr sz="1400" b="1"/>
            </a:pPr>
            <a:r>
              <a:t>Phase 1: Initialization (45 seconds)</a:t>
            </a:r>
          </a:p>
          <a:p>
            <a:pPr lvl="1">
              <a:defRPr sz="1200"/>
            </a:pPr>
            <a:r>
              <a:t>Social engineering establishes access</a:t>
            </a:r>
          </a:p>
          <a:p>
            <a:pPr>
              <a:defRPr sz="1400" b="1">
                <a:solidFill>
                  <a:srgbClr val="FF4444"/>
                </a:solidFill>
              </a:defRPr>
            </a:pPr>
            <a:r>
              <a:t>Phase 2: Reconnaissance (2-8 hours)</a:t>
            </a:r>
          </a:p>
          <a:p>
            <a:pPr lvl="1">
              <a:defRPr sz="1200">
                <a:solidFill>
                  <a:srgbClr val="FF4444"/>
                </a:solidFill>
              </a:defRPr>
            </a:pPr>
            <a:r>
              <a:t>150+ API requests/minute - CRITICAL DETECTION WINDOW</a:t>
            </a:r>
          </a:p>
          <a:p>
            <a:pPr>
              <a:defRPr sz="1400" b="1"/>
            </a:pPr>
            <a:r>
              <a:t>Phase 3: Exploitation (1-4 hours)</a:t>
            </a:r>
          </a:p>
          <a:p>
            <a:pPr lvl="1">
              <a:defRPr sz="1200"/>
            </a:pPr>
            <a:r>
              <a:t>Legitimate tools exploited for persistence</a:t>
            </a:r>
          </a:p>
          <a:p>
            <a:pPr>
              <a:defRPr sz="1400" b="1"/>
            </a:pPr>
            <a:r>
              <a:t>Phase 4: Lateral Movement (3-7 hours)</a:t>
            </a:r>
          </a:p>
          <a:p>
            <a:pPr lvl="1">
              <a:defRPr sz="1200"/>
            </a:pPr>
            <a:r>
              <a:t>Credential harvesting across 10+ systems</a:t>
            </a:r>
          </a:p>
          <a:p>
            <a:pPr>
              <a:defRPr sz="1400" b="1"/>
            </a:pPr>
            <a:r>
              <a:t>Phase 5: Data Extraction (2-6 hours)</a:t>
            </a:r>
          </a:p>
          <a:p>
            <a:pPr lvl="1">
              <a:defRPr sz="1200"/>
            </a:pPr>
            <a:r>
              <a:t>100MB+ data exfiltration</a:t>
            </a:r>
          </a:p>
          <a:p>
            <a:pPr>
              <a:defRPr sz="1400" b="1"/>
            </a:pPr>
            <a:r>
              <a:t>Phase 6: Handoff (Passive)</a:t>
            </a:r>
          </a:p>
          <a:p>
            <a:pPr lvl="1">
              <a:defRPr sz="1200"/>
            </a:pPr>
            <a:r>
              <a:t>Control passed to human operators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GATRA: Five-Agent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FF41"/>
                </a:solidFill>
              </a:defRPr>
            </a:pPr>
            <a:r>
              <a:t>Multi-Agent Defense System</a:t>
            </a:r>
          </a:p>
          <a:p>
            <a:pPr>
              <a:defRPr sz="1400" b="1"/>
            </a:pPr>
            <a:r>
              <a:t>Agent 1: Tempo Anomaly Detector</a:t>
            </a:r>
          </a:p>
          <a:p>
            <a:pPr lvl="1">
              <a:defRPr sz="1200"/>
            </a:pPr>
            <a:r>
              <a:t>Function: Monitors API velocity (&gt;150 req/min)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Performance: 88% confidence</a:t>
            </a:r>
          </a:p>
          <a:p/>
          <a:p>
            <a:pPr>
              <a:defRPr sz="1400" b="1"/>
            </a:pPr>
            <a:r>
              <a:t>Agent 2: Phase Progression Tracker</a:t>
            </a:r>
          </a:p>
          <a:p>
            <a:pPr lvl="1">
              <a:defRPr sz="1200"/>
            </a:pPr>
            <a:r>
              <a:t>Function: Recognizes kill-chain transitions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Performance: 88% confidence</a:t>
            </a:r>
          </a:p>
          <a:p/>
          <a:p>
            <a:pPr>
              <a:defRPr sz="1400" b="1"/>
            </a:pPr>
            <a:r>
              <a:t>Agent 3: Data Exfiltration Analyzer</a:t>
            </a:r>
          </a:p>
          <a:p>
            <a:pPr lvl="1">
              <a:defRPr sz="1200"/>
            </a:pPr>
            <a:r>
              <a:t>Function: Detects &gt;100MB transfers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Performance: 98% confidence</a:t>
            </a:r>
          </a:p>
          <a:p/>
          <a:p>
            <a:pPr>
              <a:defRPr sz="1400" b="1"/>
            </a:pPr>
            <a:r>
              <a:t>Agent 4: Lateral Movement Tracker</a:t>
            </a:r>
          </a:p>
          <a:p>
            <a:pPr lvl="1">
              <a:defRPr sz="1200"/>
            </a:pPr>
            <a:r>
              <a:t>Function: Monitors credential pivoting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Performance: 87% confidence</a:t>
            </a:r>
          </a:p>
          <a:p/>
          <a:p>
            <a:pPr>
              <a:defRPr sz="1400" b="1"/>
            </a:pPr>
            <a:r>
              <a:t>Agent 5: MCP Infrastructure Detector</a:t>
            </a:r>
          </a:p>
          <a:p>
            <a:pPr lvl="1">
              <a:defRPr sz="1200"/>
            </a:pPr>
            <a:r>
              <a:t>Function: Identifies C2 patterns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Performance: 95% confidence</a:t>
            </a:r>
          </a:p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>
                <a:solidFill>
                  <a:srgbClr val="003366"/>
                </a:solidFill>
              </a:defRPr>
            </a:pPr>
            <a:r>
              <a:t>GATRA Live Demo: Real-Time Threat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Interactive Simulation Features</a:t>
            </a:r>
          </a:p>
          <a:p>
            <a:pPr lvl="1">
              <a:defRPr sz="1400"/>
            </a:pPr>
            <a:r>
              <a:t>• Real-time telemetry feed with live attack progression</a:t>
            </a:r>
          </a:p>
          <a:p>
            <a:pPr lvl="1">
              <a:defRPr sz="1400"/>
            </a:pPr>
            <a:r>
              <a:t>• Visual agent status monitoring (4 agents active)</a:t>
            </a:r>
          </a:p>
          <a:p>
            <a:pPr lvl="1">
              <a:defRPr sz="1400"/>
            </a:pPr>
            <a:r>
              <a:t>• Attack progression bar showing threat escalation</a:t>
            </a:r>
          </a:p>
          <a:p>
            <a:pPr lvl="1">
              <a:defRPr sz="1400"/>
            </a:pPr>
            <a:r>
              <a:t>• Automated response demonstration</a:t>
            </a:r>
          </a:p>
          <a:p>
            <a:pPr lvl="1">
              <a:defRPr sz="1400"/>
            </a:pPr>
            <a:r>
              <a:t>• 15-second complete attack neutralization</a:t>
            </a:r>
          </a:p>
          <a:p>
            <a:pPr lvl="1">
              <a:defRPr sz="1400"/>
            </a:pPr>
            <a:r>
              <a:t>• Zero human intervention required</a:t>
            </a:r>
          </a:p>
          <a:p/>
          <a:p>
            <a:pPr>
              <a:defRPr sz="1600" b="1">
                <a:solidFill>
                  <a:srgbClr val="00FF41"/>
                </a:solidFill>
              </a:defRPr>
            </a:pPr>
            <a:r>
              <a:t>Demo Results: GTG-1002 Attack Blocked in 15 Seconds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003366"/>
                </a:solidFill>
              </a:defRPr>
            </a:pPr>
            <a:r>
              <a:t>GATRA vs. Traditional SOC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Performance Comparison</a:t>
            </a:r>
          </a:p>
          <a:p>
            <a:pPr>
              <a:defRPr sz="1400" b="1"/>
            </a:pPr>
            <a:r>
              <a:t>Detection Time:</a:t>
            </a:r>
          </a:p>
          <a:p>
            <a:pPr lvl="1">
              <a:defRPr sz="1200"/>
            </a:pPr>
            <a:r>
              <a:t>GATRA: 15-30 minutes | Traditional: 200+ days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Advantage: 1,333x Faster</a:t>
            </a:r>
          </a:p>
          <a:p/>
          <a:p>
            <a:pPr>
              <a:defRPr sz="1400" b="1"/>
            </a:pPr>
            <a:r>
              <a:t>Success Rate:</a:t>
            </a:r>
          </a:p>
          <a:p>
            <a:pPr lvl="1">
              <a:defRPr sz="1200"/>
            </a:pPr>
            <a:r>
              <a:t>GATRA: 95% | Traditional: &lt;10%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Advantage: +85% Efficiency</a:t>
            </a:r>
          </a:p>
          <a:p/>
          <a:p>
            <a:pPr>
              <a:defRPr sz="1400" b="1"/>
            </a:pPr>
            <a:r>
              <a:t>False Positives:</a:t>
            </a:r>
          </a:p>
          <a:p>
            <a:pPr lvl="1">
              <a:defRPr sz="1200"/>
            </a:pPr>
            <a:r>
              <a:t>GATRA: &lt;1% | Traditional: 30%+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Advantage: 95% Noise Reduction</a:t>
            </a:r>
          </a:p>
          <a:p/>
          <a:p>
            <a:pPr>
              <a:defRPr sz="1400" b="1"/>
            </a:pPr>
            <a:r>
              <a:t>Response Type:</a:t>
            </a:r>
          </a:p>
          <a:p>
            <a:pPr lvl="1">
              <a:defRPr sz="1200"/>
            </a:pPr>
            <a:r>
              <a:t>GATRA: Autonomous | Traditional: Manual/Analyst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Advantage: Zero Human Delay</a:t>
            </a:r>
          </a:p>
          <a:p/>
          <a:p>
            <a:pPr>
              <a:defRPr sz="1400" b="1"/>
            </a:pPr>
            <a:r>
              <a:t>Phase 2 Coverage:</a:t>
            </a:r>
          </a:p>
          <a:p>
            <a:pPr lvl="1">
              <a:defRPr sz="1200"/>
            </a:pPr>
            <a:r>
              <a:t>GATRA: 88% | Traditional: 5%</a:t>
            </a:r>
          </a:p>
          <a:p>
            <a:pPr lvl="1">
              <a:defRPr sz="1200" b="1">
                <a:solidFill>
                  <a:srgbClr val="00FF41"/>
                </a:solidFill>
              </a:defRPr>
            </a:pPr>
            <a:r>
              <a:t>Advantage: Prevention Capability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Return on Investment (ROI)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FF41"/>
                </a:solidFill>
              </a:defRPr>
            </a:pPr>
            <a:r>
              <a:t>Cost Avoidance Model</a:t>
            </a:r>
          </a:p>
          <a:p>
            <a:pPr>
              <a:defRPr sz="1600" b="1"/>
            </a:pPr>
            <a:r>
              <a:t>Single Prevented Breach Value:</a:t>
            </a:r>
          </a:p>
          <a:p>
            <a:pPr lvl="1">
              <a:defRPr sz="1400"/>
            </a:pPr>
            <a:r>
              <a:t>• Regulatory fines avoided: $15M+</a:t>
            </a:r>
          </a:p>
          <a:p>
            <a:pPr lvl="1">
              <a:defRPr sz="1400"/>
            </a:pPr>
            <a:r>
              <a:t>• Remediation costs saved: $5M+</a:t>
            </a:r>
          </a:p>
          <a:p>
            <a:pPr lvl="1">
              <a:defRPr sz="1400"/>
            </a:pPr>
            <a:r>
              <a:t>• Legal and notification costs: $3M+</a:t>
            </a:r>
          </a:p>
          <a:p>
            <a:pPr lvl="1">
              <a:defRPr sz="1400"/>
            </a:pPr>
            <a:r>
              <a:t>• Brand damage prevention: $2M+</a:t>
            </a:r>
          </a:p>
          <a:p>
            <a:pPr lvl="1">
              <a:defRPr sz="1400"/>
            </a:pPr>
            <a:r>
              <a:t>• Lost business prevention: $1.4M+</a:t>
            </a:r>
          </a:p>
          <a:p>
            <a:pPr lvl="1">
              <a:defRPr sz="1400"/>
            </a:pPr>
            <a:r>
              <a:t>• Total breach cost avoided: $26.4M+</a:t>
            </a:r>
          </a:p>
          <a:p/>
          <a:p>
            <a:pPr>
              <a:defRPr sz="2400" b="1">
                <a:solidFill>
                  <a:srgbClr val="00FF41"/>
                </a:solidFill>
              </a:defRPr>
            </a:pPr>
            <a:r>
              <a:t>First Month ROI: 5,280%</a:t>
            </a:r>
          </a:p>
          <a:p>
            <a:pPr>
              <a:defRPr sz="1600" b="1"/>
            </a:pPr>
            <a:r>
              <a:t>Operational Efficiency: 80% SOC workload reduction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Strategic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 b="1">
                <a:solidFill>
                  <a:srgbClr val="00FF41"/>
                </a:solidFill>
              </a:defRPr>
            </a:pPr>
            <a:r>
              <a:t>Current (2024-Q1 2025): Proven 5-Agent Solution</a:t>
            </a:r>
          </a:p>
          <a:p>
            <a:pPr lvl="1">
              <a:defRPr sz="1200"/>
            </a:pPr>
            <a:r>
              <a:t>• Operational and validated</a:t>
            </a:r>
            <a:br/>
            <a:r>
              <a:t>• 15-30 minute detection</a:t>
            </a:r>
            <a:br/>
            <a:r>
              <a:t>• GTG-1002 case study proven</a:t>
            </a:r>
          </a:p>
          <a:p/>
          <a:p/>
          <a:p>
            <a:pPr>
              <a:defRPr sz="1600" b="1">
                <a:solidFill>
                  <a:srgbClr val="00FF41"/>
                </a:solidFill>
              </a:defRPr>
            </a:pPr>
            <a:r>
              <a:t>Near-Term (Q2-Q4 2025): Enhanced Platform</a:t>
            </a:r>
          </a:p>
          <a:p>
            <a:pPr lvl="1">
              <a:defRPr sz="1200"/>
            </a:pPr>
            <a:r>
              <a:t>• 10+ specialized agents</a:t>
            </a:r>
            <a:br/>
            <a:r>
              <a:t>• Industry-specific models</a:t>
            </a:r>
            <a:br/>
            <a:r>
              <a:t>• Compliance automation (GDPR, HIPAA)</a:t>
            </a:r>
          </a:p>
          <a:p/>
          <a:p/>
          <a:p>
            <a:pPr>
              <a:defRPr sz="1600" b="1">
                <a:solidFill>
                  <a:srgbClr val="00FF41"/>
                </a:solidFill>
              </a:defRPr>
            </a:pPr>
            <a:r>
              <a:t>Vision (2026+): Global Intelligence Platform</a:t>
            </a:r>
          </a:p>
          <a:p>
            <a:pPr lvl="1">
              <a:defRPr sz="1200"/>
            </a:pPr>
            <a:r>
              <a:t>• Zero-day vulnerability detection</a:t>
            </a:r>
            <a:br/>
            <a:r>
              <a:t>• AI-vs-AI adversarial testing</a:t>
            </a:r>
            <a:br/>
            <a:r>
              <a:t>• Global threat intelligence network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Experience GATRA Live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00FF41"/>
                </a:solidFill>
              </a:defRPr>
            </a:pPr>
            <a:r>
              <a:t>Interactive Demo Available</a:t>
            </a:r>
          </a:p>
          <a:p>
            <a:pPr>
              <a:defRPr sz="1600"/>
            </a:pPr>
            <a:r>
              <a:t>See GATRA detect and neutralize a GTG-1002 style attack in real-time:</a:t>
            </a:r>
          </a:p>
          <a:p>
            <a:pPr lvl="1">
              <a:defRPr sz="1400"/>
            </a:pPr>
            <a:r>
              <a:t>• Watch all 5 agents coordinate in real-time</a:t>
            </a:r>
          </a:p>
          <a:p>
            <a:pPr lvl="1">
              <a:defRPr sz="1400"/>
            </a:pPr>
            <a:r>
              <a:t>• See attack progression from breach to neutralization</a:t>
            </a:r>
          </a:p>
          <a:p>
            <a:pPr lvl="1">
              <a:defRPr sz="1400"/>
            </a:pPr>
            <a:r>
              <a:t>• Experience 15-second threat resolution</a:t>
            </a:r>
          </a:p>
          <a:p>
            <a:pPr lvl="1">
              <a:defRPr sz="1400"/>
            </a:pPr>
            <a:r>
              <a:t>• Understand the Phase 2 detection advantage</a:t>
            </a:r>
          </a:p>
          <a:p>
            <a:pPr lvl="1">
              <a:defRPr sz="1400"/>
            </a:pPr>
            <a:r>
              <a:t>• Witness zero human intervention response</a:t>
            </a:r>
          </a:p>
          <a:p/>
          <a:p>
            <a:pPr>
              <a:defRPr sz="1600" b="1">
                <a:solidFill>
                  <a:srgbClr val="00FF41"/>
                </a:solidFill>
              </a:defRPr>
            </a:pPr>
            <a:r>
              <a:t>Demo File: demo.html (included in repository)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/>
            </a:pPr>
            <a:r>
              <a:t>Recommended Actions</a:t>
            </a:r>
          </a:p>
          <a:p>
            <a:pPr lvl="1">
              <a:defRPr sz="1600"/>
            </a:pPr>
            <a:r>
              <a:t>1. Schedule live GTG-1002 simulation demo</a:t>
            </a:r>
          </a:p>
          <a:p>
            <a:pPr lvl="1">
              <a:defRPr sz="1600"/>
            </a:pPr>
            <a:r>
              <a:t>2. Review technical architecture documentation</a:t>
            </a:r>
          </a:p>
          <a:p>
            <a:pPr lvl="1">
              <a:defRPr sz="1600"/>
            </a:pPr>
            <a:r>
              <a:t>3. Discuss deployment timeline and pricing</a:t>
            </a:r>
          </a:p>
          <a:p>
            <a:pPr lvl="1">
              <a:defRPr sz="1600"/>
            </a:pPr>
            <a:r>
              <a:t>4. Evaluate integration with existing SOC infrastructure</a:t>
            </a:r>
          </a:p>
          <a:p>
            <a:pPr lvl="1">
              <a:defRPr sz="1600"/>
            </a:pPr>
            <a:r>
              <a:t>5. Plan pilot deployment strategy</a:t>
            </a:r>
          </a:p>
          <a:p/>
          <a:p>
            <a:pPr>
              <a:defRPr sz="1800" b="1">
                <a:solidFill>
                  <a:srgbClr val="00FF41"/>
                </a:solidFill>
              </a:defRPr>
            </a:pPr>
            <a:r>
              <a:t>Contact Information</a:t>
            </a:r>
          </a:p>
          <a:p>
            <a:pPr lvl="1">
              <a:defRPr sz="1400"/>
            </a:pPr>
            <a:r>
              <a:t>Repository: https://github.com/ghifiardi/indication_of_compromise</a:t>
            </a:r>
          </a:p>
          <a:p>
            <a:pPr lvl="1">
              <a:defRPr sz="1400"/>
            </a:pPr>
            <a:r>
              <a:t>Demo: Open demo.html in any web browser</a:t>
            </a:r>
          </a:p>
          <a:p>
            <a:pPr lvl="1">
              <a:defRPr sz="1400"/>
            </a:pPr>
            <a:r>
              <a:t>Documentation: Complete deployment guides included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